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6" r:id="rId3"/>
    <p:sldId id="285" r:id="rId4"/>
    <p:sldId id="283" r:id="rId5"/>
    <p:sldId id="281" r:id="rId6"/>
    <p:sldId id="286" r:id="rId7"/>
    <p:sldId id="284" r:id="rId8"/>
    <p:sldId id="287" r:id="rId9"/>
    <p:sldId id="282" r:id="rId10"/>
    <p:sldId id="267" r:id="rId11"/>
  </p:sldIdLst>
  <p:sldSz cx="12192000" cy="6858000"/>
  <p:notesSz cx="6858000" cy="9144000"/>
  <p:defaultTextStyle>
    <a:defPPr>
      <a:defRPr lang="es-A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 Triángulo rectángulo"/>
          <p:cNvSpPr/>
          <p:nvPr/>
        </p:nvSpPr>
        <p:spPr>
          <a:xfrm>
            <a:off x="0" y="4664075"/>
            <a:ext cx="12201525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15 Grupo"/>
          <p:cNvGrpSpPr>
            <a:grpSpLocks/>
          </p:cNvGrpSpPr>
          <p:nvPr/>
        </p:nvGrpSpPr>
        <p:grpSpPr bwMode="auto">
          <a:xfrm>
            <a:off x="-4763" y="4953000"/>
            <a:ext cx="12196763" cy="1911350"/>
            <a:chOff x="-3765" y="4832896"/>
            <a:chExt cx="9147765" cy="2032192"/>
          </a:xfrm>
        </p:grpSpPr>
        <p:sp>
          <p:nvSpPr>
            <p:cNvPr id="6" name="16 Forma libre"/>
            <p:cNvSpPr>
              <a:spLocks/>
            </p:cNvSpPr>
            <p:nvPr/>
          </p:nvSpPr>
          <p:spPr bwMode="auto">
            <a:xfrm>
              <a:off x="1686959" y="4832896"/>
              <a:ext cx="7457041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7" name="18 Forma libre"/>
            <p:cNvSpPr>
              <a:spLocks/>
            </p:cNvSpPr>
            <p:nvPr/>
          </p:nvSpPr>
          <p:spPr bwMode="auto">
            <a:xfrm>
              <a:off x="35527" y="5135025"/>
              <a:ext cx="9108473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19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20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11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517B0233-2BF4-45B5-8656-F2BBD8214B8F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12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3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D6189B0-07EF-4EFB-9855-943F92CCAF61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128845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777D1-5DAB-435A-90F3-FF85C7D5DC4A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D6809-DAEA-44B2-A67B-015F7D182FCD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33884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 Cheurón"/>
          <p:cNvSpPr/>
          <p:nvPr/>
        </p:nvSpPr>
        <p:spPr>
          <a:xfrm>
            <a:off x="4848225" y="3005138"/>
            <a:ext cx="244475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15 Cheurón"/>
          <p:cNvSpPr/>
          <p:nvPr/>
        </p:nvSpPr>
        <p:spPr>
          <a:xfrm>
            <a:off x="4600575" y="3005138"/>
            <a:ext cx="242888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944BC-3997-4878-AC0C-04C6284A4816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368F0-FDC6-415F-BBD9-C0213D980AFD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2520977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7169C-8354-45F6-9CAE-73CB681BD369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D23A0-A03A-4F85-9CF5-5C244991FB98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514628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AAA4D-16F2-46BE-9B40-FC8AF0B9B315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F0648-8237-44FD-90F2-2FE31DA170D0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247623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89BBA-4044-45BD-AA0C-9ECE9860E5A2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B5099-0457-40EE-B285-E66B1A19A733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207749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9E320-A365-4DA0-BDE3-3D655A0C2B01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3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49ED5-1D9A-40F3-BB10-F9E215CA38FE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594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4422A-E8A7-465B-9DAF-9E841D955EA9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8BCA5-6ED6-4DEA-8473-27B41B086B12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136049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0 Forma libre"/>
          <p:cNvSpPr>
            <a:spLocks/>
          </p:cNvSpPr>
          <p:nvPr/>
        </p:nvSpPr>
        <p:spPr bwMode="auto">
          <a:xfrm>
            <a:off x="665163" y="5945188"/>
            <a:ext cx="6588125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" name="15 Forma libre"/>
          <p:cNvSpPr>
            <a:spLocks/>
          </p:cNvSpPr>
          <p:nvPr/>
        </p:nvSpPr>
        <p:spPr bwMode="auto">
          <a:xfrm>
            <a:off x="647700" y="5938838"/>
            <a:ext cx="4921250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16 Triángulo rectángulo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18 Conector recto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19 Cheurón"/>
          <p:cNvSpPr/>
          <p:nvPr/>
        </p:nvSpPr>
        <p:spPr>
          <a:xfrm>
            <a:off x="11552238" y="4987925"/>
            <a:ext cx="244475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20 Cheurón"/>
          <p:cNvSpPr/>
          <p:nvPr/>
        </p:nvSpPr>
        <p:spPr>
          <a:xfrm>
            <a:off x="11303000" y="4987925"/>
            <a:ext cx="244475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s-ES" noProof="0" smtClean="0"/>
              <a:t>Haga clic en el icono para agregar una imagen</a:t>
            </a:r>
            <a:endParaRPr lang="en-US" noProof="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1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A9320CD-8D54-40FA-AAE1-C29B5A3530B8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12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3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78D4E-8200-4428-B11D-FC604EA3D67A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3706070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88F99-0A7A-41D6-8C57-51EB7C878CB1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59709-1671-4A7B-8094-B7B3824C7449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98641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D25FE-4AB5-446D-BF44-284B9951DB91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16C37-6476-4797-9200-122153D76151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  <p:extLst>
      <p:ext uri="{BB962C8B-B14F-4D97-AF65-F5344CB8AC3E}">
        <p14:creationId xmlns:p14="http://schemas.microsoft.com/office/powerpoint/2010/main" val="415672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665163" y="5945188"/>
            <a:ext cx="6588125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27" name="11 Forma libre"/>
          <p:cNvSpPr>
            <a:spLocks/>
          </p:cNvSpPr>
          <p:nvPr/>
        </p:nvSpPr>
        <p:spPr bwMode="auto">
          <a:xfrm>
            <a:off x="647700" y="5938838"/>
            <a:ext cx="4921250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033" name="29 Marcador de texto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texto del patrón</a:t>
            </a:r>
          </a:p>
          <a:p>
            <a:pPr lvl="1"/>
            <a:r>
              <a:rPr lang="es-ES" altLang="en-US" smtClean="0"/>
              <a:t>Segundo nivel</a:t>
            </a:r>
          </a:p>
          <a:p>
            <a:pPr lvl="2"/>
            <a:r>
              <a:rPr lang="es-ES" altLang="en-US" smtClean="0"/>
              <a:t>Tercer nivel</a:t>
            </a:r>
          </a:p>
          <a:p>
            <a:pPr lvl="3"/>
            <a:r>
              <a:rPr lang="es-ES" altLang="en-US" smtClean="0"/>
              <a:t>Cuarto nivel</a:t>
            </a:r>
          </a:p>
          <a:p>
            <a:pPr lvl="4"/>
            <a:r>
              <a:rPr lang="es-ES" altLang="en-US" smtClean="0"/>
              <a:t>Quinto nivel</a:t>
            </a:r>
            <a:endParaRPr lang="en-US" altLang="en-US" smtClean="0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8969375" y="6408738"/>
            <a:ext cx="256063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314A4694-0ACF-445A-9634-08C8C7264BA2}" type="datetimeFigureOut">
              <a:rPr lang="es-AR"/>
              <a:pPr>
                <a:defRPr/>
              </a:pPr>
              <a:t>1/12/2024</a:t>
            </a:fld>
            <a:endParaRPr lang="es-AR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840413" y="6408738"/>
            <a:ext cx="3133725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530013" y="6408738"/>
            <a:ext cx="48736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63257D35-11E6-404A-8DCD-44EFD2460EE3}" type="slidenum">
              <a:rPr lang="es-AR" altLang="en-US"/>
              <a:pPr>
                <a:defRPr/>
              </a:pPr>
              <a:t>‹Nº›</a:t>
            </a:fld>
            <a:endParaRPr lang="es-A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89" r:id="rId2"/>
    <p:sldLayoutId id="2147483894" r:id="rId3"/>
    <p:sldLayoutId id="2147483895" r:id="rId4"/>
    <p:sldLayoutId id="2147483896" r:id="rId5"/>
    <p:sldLayoutId id="2147483897" r:id="rId6"/>
    <p:sldLayoutId id="2147483890" r:id="rId7"/>
    <p:sldLayoutId id="2147483898" r:id="rId8"/>
    <p:sldLayoutId id="2147483899" r:id="rId9"/>
    <p:sldLayoutId id="2147483891" r:id="rId10"/>
    <p:sldLayoutId id="214748389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8 Subtítulo"/>
          <p:cNvSpPr>
            <a:spLocks noGrp="1"/>
          </p:cNvSpPr>
          <p:nvPr>
            <p:ph type="subTitle" idx="1"/>
          </p:nvPr>
        </p:nvSpPr>
        <p:spPr>
          <a:xfrm>
            <a:off x="914400" y="3611563"/>
            <a:ext cx="10363200" cy="1200150"/>
          </a:xfrm>
        </p:spPr>
        <p:txBody>
          <a:bodyPr/>
          <a:lstStyle/>
          <a:p>
            <a:pPr marR="0" eaLnBrk="1" hangingPunct="1"/>
            <a:endParaRPr lang="en-US" altLang="en-US" dirty="0" smtClean="0"/>
          </a:p>
        </p:txBody>
      </p:sp>
      <p:sp>
        <p:nvSpPr>
          <p:cNvPr id="5124" name="CuadroTexto 3"/>
          <p:cNvSpPr txBox="1">
            <a:spLocks noChangeArrowheads="1"/>
          </p:cNvSpPr>
          <p:nvPr/>
        </p:nvSpPr>
        <p:spPr bwMode="auto">
          <a:xfrm>
            <a:off x="265043" y="5146645"/>
            <a:ext cx="6494856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ES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Estudiante: Lic. </a:t>
            </a:r>
            <a:r>
              <a:rPr lang="es-ES" sz="16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Calello</a:t>
            </a:r>
            <a:r>
              <a:rPr lang="es-ES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, Alejandro </a:t>
            </a:r>
            <a:r>
              <a:rPr lang="es-ES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Alberto</a:t>
            </a:r>
          </a:p>
          <a:p>
            <a:pPr eaLnBrk="1" hangingPunct="1">
              <a:defRPr/>
            </a:pPr>
            <a:r>
              <a:rPr lang="es-AR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Tutor: Esp. </a:t>
            </a:r>
            <a:r>
              <a:rPr lang="es-AR" sz="16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Ing</a:t>
            </a:r>
            <a:r>
              <a:rPr lang="es-AR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s-AR" sz="16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Carino</a:t>
            </a:r>
            <a:r>
              <a:rPr lang="es-AR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 Fabián Marcelo</a:t>
            </a:r>
            <a:endParaRPr lang="es-AR" sz="1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s-ES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Universidad Del Salvador</a:t>
            </a:r>
            <a:br>
              <a:rPr lang="es-ES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</a:br>
            <a:r>
              <a:rPr lang="es-ES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Facultad de ciencias económicas y empresariales</a:t>
            </a:r>
            <a:endParaRPr lang="es-AR" sz="1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s-ES" sz="1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Especialización en gestión de sistemas de información</a:t>
            </a:r>
            <a:endParaRPr lang="es-AR" sz="1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s-ES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2024</a:t>
            </a:r>
            <a:endParaRPr lang="es-AR" sz="1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s-AR" dirty="0">
              <a:latin typeface="Trebuchet MS" pitchFamily="34" charset="0"/>
              <a:cs typeface="Arial" charset="0"/>
            </a:endParaRPr>
          </a:p>
        </p:txBody>
      </p:sp>
      <p:pic>
        <p:nvPicPr>
          <p:cNvPr id="9222" name="Imagen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605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 smtClean="0">
                <a:solidFill>
                  <a:srgbClr val="464646"/>
                </a:solidFill>
                <a:effectLst/>
              </a:rPr>
              <a:t/>
            </a:r>
            <a:br>
              <a:rPr lang="es-ES" sz="4300" dirty="0" smtClean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 smtClean="0">
                <a:solidFill>
                  <a:srgbClr val="464646"/>
                </a:solidFill>
                <a:effectLst/>
              </a:rPr>
              <a:t/>
            </a:r>
            <a:br>
              <a:rPr lang="es-ES" sz="4300" dirty="0" smtClean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s-ES" sz="4300" dirty="0" smtClean="0">
                <a:solidFill>
                  <a:srgbClr val="464646"/>
                </a:solidFill>
                <a:effectLst/>
              </a:rPr>
              <a:t/>
            </a:r>
            <a:br>
              <a:rPr lang="es-ES" sz="4300" dirty="0" smtClean="0">
                <a:solidFill>
                  <a:srgbClr val="464646"/>
                </a:solidFill>
                <a:effectLst/>
              </a:rPr>
            </a:br>
            <a:r>
              <a:rPr lang="es-ES" sz="4300" dirty="0" smtClean="0">
                <a:solidFill>
                  <a:srgbClr val="464646"/>
                </a:solidFill>
                <a:effectLst/>
              </a:rPr>
              <a:t/>
            </a:r>
            <a:br>
              <a:rPr lang="es-ES" sz="4300" dirty="0" smtClean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/>
            </a:r>
            <a:br>
              <a:rPr lang="es-ES" sz="4300" dirty="0">
                <a:solidFill>
                  <a:srgbClr val="464646"/>
                </a:solidFill>
                <a:effectLst/>
              </a:rPr>
            </a:br>
            <a:r>
              <a:rPr lang="en-US" sz="4300" dirty="0">
                <a:solidFill>
                  <a:srgbClr val="464646"/>
                </a:solidFill>
                <a:effectLst/>
              </a:rPr>
              <a:t/>
            </a:r>
            <a:br>
              <a:rPr lang="en-US" sz="4300" dirty="0">
                <a:solidFill>
                  <a:srgbClr val="464646"/>
                </a:solidFill>
                <a:effectLst/>
              </a:rPr>
            </a:br>
            <a:r>
              <a:rPr lang="es-ES" sz="4300" dirty="0">
                <a:solidFill>
                  <a:srgbClr val="464646"/>
                </a:solidFill>
                <a:effectLst/>
              </a:rPr>
              <a:t> </a:t>
            </a:r>
            <a:r>
              <a:rPr lang="en-US" sz="4300" dirty="0">
                <a:solidFill>
                  <a:srgbClr val="464646"/>
                </a:solidFill>
                <a:effectLst/>
              </a:rPr>
              <a:t/>
            </a:r>
            <a:br>
              <a:rPr lang="en-US" sz="4300" dirty="0">
                <a:solidFill>
                  <a:srgbClr val="464646"/>
                </a:solidFill>
                <a:effectLst/>
              </a:rPr>
            </a:br>
            <a:r>
              <a:rPr lang="es-AR" sz="4300" dirty="0">
                <a:solidFill>
                  <a:srgbClr val="464646"/>
                </a:solidFill>
              </a:rPr>
              <a:t/>
            </a:r>
            <a:br>
              <a:rPr lang="es-AR" sz="4300" dirty="0">
                <a:solidFill>
                  <a:srgbClr val="464646"/>
                </a:solidFill>
              </a:rPr>
            </a:br>
            <a:endParaRPr lang="es-AR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34" y="1283987"/>
            <a:ext cx="10364098" cy="3651821"/>
          </a:xfrm>
          <a:prstGeom prst="rect">
            <a:avLst/>
          </a:prstGeom>
        </p:spPr>
      </p:pic>
    </p:spTree>
  </p:cSld>
  <p:clrMapOvr>
    <a:masterClrMapping/>
  </p:clrMapOvr>
  <p:transition spd="slow" advTm="983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eaLnBrk="1" hangingPunct="1"/>
            <a:r>
              <a:rPr lang="es-AR" altLang="en-US" dirty="0" smtClean="0"/>
              <a:t>Tratamientos tradicionales de </a:t>
            </a:r>
            <a:r>
              <a:rPr lang="es-AR" altLang="en-US" dirty="0" err="1" smtClean="0"/>
              <a:t>odontologia</a:t>
            </a:r>
            <a:endParaRPr lang="es-AR" altLang="en-US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dirty="0" smtClean="0"/>
          </a:p>
          <a:p>
            <a:pPr eaLnBrk="1" hangingPunct="1"/>
            <a:r>
              <a:rPr lang="es-AR" altLang="en-US" dirty="0" smtClean="0"/>
              <a:t>Cambios de </a:t>
            </a:r>
            <a:r>
              <a:rPr lang="es-AR" altLang="en-US" dirty="0" smtClean="0"/>
              <a:t>paradigma.</a:t>
            </a:r>
            <a:endParaRPr lang="es-AR" altLang="en-US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dirty="0" smtClean="0"/>
          </a:p>
          <a:p>
            <a:pPr eaLnBrk="1" hangingPunct="1"/>
            <a:r>
              <a:rPr lang="es-AR" altLang="en-US" dirty="0" smtClean="0"/>
              <a:t>Inteligencia Artificial aplicada a la </a:t>
            </a:r>
            <a:r>
              <a:rPr lang="es-AR" altLang="en-US" dirty="0" err="1" smtClean="0"/>
              <a:t>Odontologia</a:t>
            </a:r>
            <a:r>
              <a:rPr lang="es-AR" altLang="en-US" dirty="0" smtClean="0"/>
              <a:t>.</a:t>
            </a:r>
            <a:endParaRPr lang="es-AR" altLang="en-US" dirty="0" smtClean="0"/>
          </a:p>
          <a:p>
            <a:pPr marL="109537" indent="0" eaLnBrk="1" hangingPunct="1">
              <a:buNone/>
            </a:pPr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 smtClean="0"/>
              <a:t>Motivos por el cual elegí el tema		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385888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541" y="4640029"/>
            <a:ext cx="3267958" cy="183617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eaLnBrk="1" hangingPunct="1"/>
            <a:r>
              <a:rPr lang="es-AR" altLang="en-US" dirty="0"/>
              <a:t>Problemas a resolver de la </a:t>
            </a:r>
            <a:r>
              <a:rPr lang="es-AR" altLang="en-US" dirty="0" err="1"/>
              <a:t>Odontologia</a:t>
            </a:r>
            <a:r>
              <a:rPr lang="es-AR" altLang="en-US" dirty="0"/>
              <a:t> Tradicional.</a:t>
            </a:r>
          </a:p>
          <a:p>
            <a:pPr marL="109537" indent="0" eaLnBrk="1" hangingPunct="1">
              <a:buNone/>
            </a:pPr>
            <a:endParaRPr lang="es-AR" altLang="en-US" dirty="0"/>
          </a:p>
          <a:p>
            <a:pPr eaLnBrk="1" hangingPunct="1"/>
            <a:r>
              <a:rPr lang="es-AR" altLang="en-US" dirty="0"/>
              <a:t>Interrogantes a</a:t>
            </a:r>
            <a:r>
              <a:rPr lang="es-AR" altLang="en-US" dirty="0" smtClean="0"/>
              <a:t> </a:t>
            </a:r>
            <a:r>
              <a:rPr lang="es-AR" altLang="en-US" dirty="0"/>
              <a:t>responder.</a:t>
            </a:r>
          </a:p>
          <a:p>
            <a:pPr marL="109537" indent="0" eaLnBrk="1" hangingPunct="1">
              <a:buNone/>
            </a:pPr>
            <a:endParaRPr 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/>
              <a:t>Objetivo del Trabajo Final	</a:t>
            </a:r>
            <a:r>
              <a:rPr lang="es-ES" dirty="0" smtClean="0"/>
              <a:t>	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436492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293" name="Marcador de contenido 2"/>
          <p:cNvSpPr txBox="1">
            <a:spLocks/>
          </p:cNvSpPr>
          <p:nvPr/>
        </p:nvSpPr>
        <p:spPr bwMode="auto">
          <a:xfrm>
            <a:off x="751771" y="4575960"/>
            <a:ext cx="6094412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s-AR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747" y="4064825"/>
            <a:ext cx="3087425" cy="231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3501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eaLnBrk="1" hangingPunct="1"/>
            <a:r>
              <a:rPr lang="es-AR" dirty="0" smtClean="0"/>
              <a:t>Inteligencia Artificial y Ciencia de Datos</a:t>
            </a:r>
          </a:p>
          <a:p>
            <a:pPr eaLnBrk="1" hangingPunct="1"/>
            <a:r>
              <a:rPr lang="es-AR" dirty="0" err="1" smtClean="0"/>
              <a:t>Gestion</a:t>
            </a:r>
            <a:r>
              <a:rPr lang="es-AR" dirty="0" smtClean="0"/>
              <a:t> Administrativa Digital</a:t>
            </a:r>
          </a:p>
          <a:p>
            <a:pPr eaLnBrk="1" hangingPunct="1"/>
            <a:r>
              <a:rPr lang="es-ES" dirty="0" err="1" smtClean="0"/>
              <a:t>Etica</a:t>
            </a:r>
            <a:r>
              <a:rPr lang="es-ES" dirty="0" smtClean="0"/>
              <a:t> y </a:t>
            </a:r>
            <a:r>
              <a:rPr lang="es-ES" dirty="0" err="1" smtClean="0"/>
              <a:t>Legislacion</a:t>
            </a:r>
            <a:r>
              <a:rPr lang="es-ES" dirty="0" smtClean="0"/>
              <a:t> en Salud</a:t>
            </a:r>
          </a:p>
          <a:p>
            <a:pPr eaLnBrk="1" hangingPunct="1"/>
            <a:r>
              <a:rPr lang="es-ES" dirty="0" smtClean="0"/>
              <a:t>Ciencia de la Salud (</a:t>
            </a:r>
            <a:r>
              <a:rPr lang="es-ES" dirty="0" err="1" smtClean="0"/>
              <a:t>Odontologia</a:t>
            </a:r>
            <a:r>
              <a:rPr lang="es-ES" dirty="0" smtClean="0"/>
              <a:t>)</a:t>
            </a:r>
          </a:p>
          <a:p>
            <a:pPr eaLnBrk="1" hangingPunct="1"/>
            <a:r>
              <a:rPr lang="es-ES" dirty="0" err="1" smtClean="0"/>
              <a:t>Tecnologia</a:t>
            </a:r>
            <a:r>
              <a:rPr lang="es-ES" dirty="0" smtClean="0"/>
              <a:t> y </a:t>
            </a:r>
            <a:r>
              <a:rPr lang="es-ES" dirty="0" err="1" smtClean="0"/>
              <a:t>Transformacion</a:t>
            </a:r>
            <a:r>
              <a:rPr lang="es-ES" dirty="0" smtClean="0"/>
              <a:t> Digital</a:t>
            </a:r>
          </a:p>
          <a:p>
            <a:pPr eaLnBrk="1" hangingPunct="1"/>
            <a:r>
              <a:rPr lang="es-ES" dirty="0" err="1" smtClean="0"/>
              <a:t>Gestion</a:t>
            </a:r>
            <a:r>
              <a:rPr lang="es-ES" dirty="0" smtClean="0"/>
              <a:t> del Cambio y </a:t>
            </a:r>
            <a:r>
              <a:rPr lang="es-ES" dirty="0" err="1" smtClean="0"/>
              <a:t>Capacitacion</a:t>
            </a:r>
            <a:endParaRPr lang="es-AR" altLang="en-US" dirty="0" smtClean="0"/>
          </a:p>
          <a:p>
            <a:pPr eaLnBrk="1" hangingPunct="1"/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sz="3600" dirty="0" smtClean="0"/>
              <a:t>Disciplinas, áreas conceptuales y practicas integradas</a:t>
            </a:r>
            <a:endParaRPr lang="es-AR" sz="3600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436492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881" y="4350463"/>
            <a:ext cx="3645029" cy="205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577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r>
              <a:rPr lang="es-AR" altLang="en-US" dirty="0" smtClean="0"/>
              <a:t>Hipótesis</a:t>
            </a:r>
          </a:p>
          <a:p>
            <a:pPr eaLnBrk="1" hangingPunct="1"/>
            <a:r>
              <a:rPr lang="es-AR" altLang="en-US" dirty="0" smtClean="0"/>
              <a:t>Software App con IA</a:t>
            </a:r>
          </a:p>
          <a:p>
            <a:pPr eaLnBrk="1" hangingPunct="1"/>
            <a:r>
              <a:rPr lang="es-AR" altLang="en-US" dirty="0" smtClean="0"/>
              <a:t>Fases del Proyecto (Cronograma)</a:t>
            </a:r>
          </a:p>
          <a:p>
            <a:pPr eaLnBrk="1" hangingPunct="1"/>
            <a:r>
              <a:rPr lang="es-AR" altLang="en-US" dirty="0" smtClean="0"/>
              <a:t>FODA</a:t>
            </a:r>
          </a:p>
          <a:p>
            <a:pPr eaLnBrk="1" hangingPunct="1"/>
            <a:endParaRPr lang="es-AR" altLang="en-US" dirty="0" smtClean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marL="109537" indent="0" eaLnBrk="1" hangingPunct="1">
              <a:buNone/>
            </a:pPr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marL="109537" indent="0" eaLnBrk="1" hangingPunct="1">
              <a:buNone/>
            </a:pPr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>
          <a:xfrm>
            <a:off x="677863" y="335344"/>
            <a:ext cx="109728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 smtClean="0"/>
              <a:t>Descripción de partes del trabajo</a:t>
            </a:r>
            <a:r>
              <a:rPr lang="es-ES" dirty="0" smtClean="0"/>
              <a:t>		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716757" y="1903413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293" name="Marcador de contenido 2"/>
          <p:cNvSpPr txBox="1">
            <a:spLocks/>
          </p:cNvSpPr>
          <p:nvPr/>
        </p:nvSpPr>
        <p:spPr bwMode="auto">
          <a:xfrm>
            <a:off x="836613" y="4651375"/>
            <a:ext cx="6094412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s-AR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12158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eaLnBrk="1" hangingPunct="1"/>
            <a:r>
              <a:rPr lang="es-AR" altLang="en-US" dirty="0" err="1" smtClean="0"/>
              <a:t>Diagnocat</a:t>
            </a:r>
            <a:r>
              <a:rPr lang="es-AR" altLang="en-US" dirty="0" smtClean="0"/>
              <a:t>.</a:t>
            </a:r>
          </a:p>
          <a:p>
            <a:pPr eaLnBrk="1" hangingPunct="1"/>
            <a:r>
              <a:rPr lang="es-AR" altLang="en-US" dirty="0" err="1" smtClean="0"/>
              <a:t>Blueskyplan</a:t>
            </a:r>
            <a:r>
              <a:rPr lang="es-AR" altLang="en-US" dirty="0" smtClean="0"/>
              <a:t>.</a:t>
            </a:r>
          </a:p>
          <a:p>
            <a:pPr eaLnBrk="1" hangingPunct="1"/>
            <a:r>
              <a:rPr lang="es-AR" altLang="en-US" dirty="0" err="1" smtClean="0"/>
              <a:t>Denbird</a:t>
            </a:r>
            <a:r>
              <a:rPr lang="es-AR" altLang="en-US" dirty="0" smtClean="0"/>
              <a:t>.</a:t>
            </a:r>
          </a:p>
          <a:p>
            <a:pPr eaLnBrk="1" hangingPunct="1"/>
            <a:r>
              <a:rPr lang="es-AR" altLang="en-US" dirty="0" err="1" smtClean="0"/>
              <a:t>Smilefy</a:t>
            </a:r>
            <a:r>
              <a:rPr lang="es-AR" altLang="en-US" dirty="0" smtClean="0"/>
              <a:t>.</a:t>
            </a:r>
          </a:p>
          <a:p>
            <a:pPr eaLnBrk="1" hangingPunct="1"/>
            <a:r>
              <a:rPr lang="es-AR" altLang="en-US" dirty="0" smtClean="0"/>
              <a:t>Dental </a:t>
            </a:r>
            <a:r>
              <a:rPr lang="es-AR" altLang="en-US" dirty="0" err="1" smtClean="0"/>
              <a:t>Monitoring</a:t>
            </a:r>
            <a:r>
              <a:rPr lang="es-AR" altLang="en-US" dirty="0" smtClean="0"/>
              <a:t>.</a:t>
            </a:r>
          </a:p>
          <a:p>
            <a:pPr eaLnBrk="1" hangingPunct="1"/>
            <a:r>
              <a:rPr lang="es-AR" altLang="en-US" dirty="0" err="1" smtClean="0"/>
              <a:t>Spotimplant</a:t>
            </a:r>
            <a:r>
              <a:rPr lang="es-AR" altLang="en-US" dirty="0" smtClean="0"/>
              <a:t>.</a:t>
            </a:r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>
          <a:xfrm>
            <a:off x="677863" y="335344"/>
            <a:ext cx="109728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 smtClean="0"/>
              <a:t>Software app con IA</a:t>
            </a:r>
            <a:r>
              <a:rPr lang="es-ES" dirty="0" smtClean="0"/>
              <a:t>		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417638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293" name="Marcador de contenido 2"/>
          <p:cNvSpPr txBox="1">
            <a:spLocks/>
          </p:cNvSpPr>
          <p:nvPr/>
        </p:nvSpPr>
        <p:spPr bwMode="auto">
          <a:xfrm>
            <a:off x="836613" y="4651375"/>
            <a:ext cx="6094412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s-AR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814" y="1394069"/>
            <a:ext cx="6601746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835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 smtClean="0"/>
              <a:t>Fases del Proyecto (Cronograma)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436492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293" name="Marcador de contenido 2"/>
          <p:cNvSpPr txBox="1">
            <a:spLocks/>
          </p:cNvSpPr>
          <p:nvPr/>
        </p:nvSpPr>
        <p:spPr bwMode="auto">
          <a:xfrm>
            <a:off x="751771" y="4575960"/>
            <a:ext cx="6094412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s-AR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2" y="1385602"/>
            <a:ext cx="6840389" cy="483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3110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 smtClean="0"/>
              <a:t>FODA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436492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293" name="Marcador de contenido 2"/>
          <p:cNvSpPr txBox="1">
            <a:spLocks/>
          </p:cNvSpPr>
          <p:nvPr/>
        </p:nvSpPr>
        <p:spPr bwMode="auto">
          <a:xfrm>
            <a:off x="751771" y="4575960"/>
            <a:ext cx="6094412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s-AR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65" y="1372572"/>
            <a:ext cx="8083826" cy="4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0534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674100" cy="3879850"/>
          </a:xfrm>
        </p:spPr>
        <p:txBody>
          <a:bodyPr/>
          <a:lstStyle/>
          <a:p>
            <a:pPr eaLnBrk="1" hangingPunct="1"/>
            <a:r>
              <a:rPr lang="es-AR" altLang="en-US" dirty="0" smtClean="0"/>
              <a:t>La implementación de IA en odontología impacta positivamente.</a:t>
            </a:r>
          </a:p>
          <a:p>
            <a:pPr eaLnBrk="1" hangingPunct="1"/>
            <a:r>
              <a:rPr lang="es-AR" altLang="en-US" dirty="0" smtClean="0"/>
              <a:t>Mejora la precisión del diagnostico</a:t>
            </a:r>
          </a:p>
          <a:p>
            <a:pPr eaLnBrk="1" hangingPunct="1"/>
            <a:r>
              <a:rPr lang="es-AR" altLang="en-US" dirty="0" smtClean="0"/>
              <a:t>Eficiencia Operativa</a:t>
            </a:r>
          </a:p>
          <a:p>
            <a:pPr eaLnBrk="1" hangingPunct="1"/>
            <a:r>
              <a:rPr lang="es-AR" altLang="en-US" dirty="0" smtClean="0"/>
              <a:t>Tratamientos Personalizados</a:t>
            </a:r>
          </a:p>
          <a:p>
            <a:pPr eaLnBrk="1" hangingPunct="1"/>
            <a:r>
              <a:rPr lang="es-AR" altLang="en-US" dirty="0" smtClean="0"/>
              <a:t>Predicción de enfermedades</a:t>
            </a:r>
          </a:p>
          <a:p>
            <a:pPr eaLnBrk="1" hangingPunct="1"/>
            <a:r>
              <a:rPr lang="es-AR" altLang="en-US" dirty="0" smtClean="0"/>
              <a:t>Limitaciones.</a:t>
            </a:r>
            <a:endParaRPr lang="es-AR" altLang="en-US" dirty="0" smtClean="0"/>
          </a:p>
          <a:p>
            <a:pPr eaLnBrk="1" hangingPunct="1"/>
            <a:endParaRPr lang="es-AR" altLang="en-US" dirty="0"/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dirty="0" smtClean="0"/>
              <a:t>Conclusiones</a:t>
            </a:r>
            <a:r>
              <a:rPr lang="es-ES" dirty="0" smtClean="0"/>
              <a:t>		</a:t>
            </a:r>
            <a:endParaRPr lang="es-AR" dirty="0" smtClean="0"/>
          </a:p>
        </p:txBody>
      </p:sp>
      <p:sp>
        <p:nvSpPr>
          <p:cNvPr id="12292" name="Título 1"/>
          <p:cNvSpPr txBox="1">
            <a:spLocks/>
          </p:cNvSpPr>
          <p:nvPr/>
        </p:nvSpPr>
        <p:spPr bwMode="auto">
          <a:xfrm>
            <a:off x="677863" y="1417638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  <p:sp>
        <p:nvSpPr>
          <p:cNvPr id="12293" name="Marcador de contenido 2"/>
          <p:cNvSpPr txBox="1">
            <a:spLocks/>
          </p:cNvSpPr>
          <p:nvPr/>
        </p:nvSpPr>
        <p:spPr bwMode="auto">
          <a:xfrm>
            <a:off x="780052" y="4575961"/>
            <a:ext cx="6094412" cy="364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es-AR" altLang="en-US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s-AR" altLang="en-US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972" y="4249461"/>
            <a:ext cx="2645982" cy="186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1477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contenido 2"/>
          <p:cNvSpPr>
            <a:spLocks noGrp="1"/>
          </p:cNvSpPr>
          <p:nvPr>
            <p:ph idx="1"/>
          </p:nvPr>
        </p:nvSpPr>
        <p:spPr>
          <a:xfrm>
            <a:off x="677863" y="1903413"/>
            <a:ext cx="8783637" cy="3879850"/>
          </a:xfrm>
        </p:spPr>
        <p:txBody>
          <a:bodyPr/>
          <a:lstStyle/>
          <a:p>
            <a:pPr eaLnBrk="1" hangingPunct="1"/>
            <a:r>
              <a:rPr lang="es-E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Dificultades.</a:t>
            </a:r>
          </a:p>
          <a:p>
            <a:pPr eaLnBrk="1" hangingPunct="1"/>
            <a:r>
              <a:rPr lang="es-E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Aprendizaje adicionale</a:t>
            </a:r>
            <a:r>
              <a:rPr lang="es-E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y descubrimientos personales durante la elaboración del TFI.</a:t>
            </a:r>
          </a:p>
          <a:p>
            <a:pPr eaLnBrk="1" hangingPunct="1"/>
            <a:r>
              <a:rPr lang="es-E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Potencialidad de Continuidad.</a:t>
            </a:r>
          </a:p>
          <a:p>
            <a:pPr marL="109537" indent="0" eaLnBrk="1" hangingPunct="1">
              <a:buNone/>
            </a:pPr>
            <a:endParaRPr lang="es-AR" altLang="en-US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b="1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b="1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b="1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dirty="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  <a:p>
            <a:pPr eaLnBrk="1" hangingPunct="1"/>
            <a:endParaRPr lang="es-AR" altLang="en-US" dirty="0" smtClean="0"/>
          </a:p>
        </p:txBody>
      </p:sp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AR" dirty="0" smtClean="0"/>
              <a:t>Consideraciones Finales del trabajo Final</a:t>
            </a:r>
            <a:endParaRPr lang="es-AR" dirty="0"/>
          </a:p>
        </p:txBody>
      </p:sp>
      <p:sp>
        <p:nvSpPr>
          <p:cNvPr id="13316" name="Título 1"/>
          <p:cNvSpPr txBox="1">
            <a:spLocks/>
          </p:cNvSpPr>
          <p:nvPr/>
        </p:nvSpPr>
        <p:spPr bwMode="auto">
          <a:xfrm>
            <a:off x="677863" y="1385888"/>
            <a:ext cx="8596312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n-US" sz="3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 spd="slow" advTm="3491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1049</TotalTime>
  <Words>187</Words>
  <Application>Microsoft Office PowerPoint</Application>
  <PresentationFormat>Panorámica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Arial</vt:lpstr>
      <vt:lpstr>Calibri</vt:lpstr>
      <vt:lpstr>Lucida Sans Unicode</vt:lpstr>
      <vt:lpstr>Times New Roman</vt:lpstr>
      <vt:lpstr>Trebuchet MS</vt:lpstr>
      <vt:lpstr>Verdana</vt:lpstr>
      <vt:lpstr>Wingdings 2</vt:lpstr>
      <vt:lpstr>Wingdings 3</vt:lpstr>
      <vt:lpstr>Concurrencia</vt:lpstr>
      <vt:lpstr>                 </vt:lpstr>
      <vt:lpstr>Motivos por el cual elegí el tema  </vt:lpstr>
      <vt:lpstr>Objetivo del Trabajo Final  </vt:lpstr>
      <vt:lpstr>Disciplinas, áreas conceptuales y practicas integradas</vt:lpstr>
      <vt:lpstr>Descripción de partes del trabajo  </vt:lpstr>
      <vt:lpstr>Software app con IA  </vt:lpstr>
      <vt:lpstr>Fases del Proyecto (Cronograma)</vt:lpstr>
      <vt:lpstr>FODA</vt:lpstr>
      <vt:lpstr>Conclusiones  </vt:lpstr>
      <vt:lpstr>Consideraciones Finales del trabajo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de mejora sustentable</dc:title>
  <dc:creator>Cuenta Microsoft</dc:creator>
  <cp:lastModifiedBy>titoasus</cp:lastModifiedBy>
  <cp:revision>178</cp:revision>
  <dcterms:created xsi:type="dcterms:W3CDTF">2022-07-20T11:35:06Z</dcterms:created>
  <dcterms:modified xsi:type="dcterms:W3CDTF">2024-12-02T00:40:07Z</dcterms:modified>
</cp:coreProperties>
</file>